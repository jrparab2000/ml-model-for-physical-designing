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67" r:id="rId1"/>
  </p:sldMasterIdLst>
  <p:notesMasterIdLst>
    <p:notesMasterId r:id="rId12"/>
  </p:notesMasterIdLst>
  <p:sldIdLst>
    <p:sldId id="272" r:id="rId2"/>
    <p:sldId id="276" r:id="rId3"/>
    <p:sldId id="278" r:id="rId4"/>
    <p:sldId id="277" r:id="rId5"/>
    <p:sldId id="297" r:id="rId6"/>
    <p:sldId id="298" r:id="rId7"/>
    <p:sldId id="299" r:id="rId8"/>
    <p:sldId id="286" r:id="rId9"/>
    <p:sldId id="300" r:id="rId10"/>
    <p:sldId id="296" r:id="rId11"/>
  </p:sldIdLst>
  <p:sldSz cx="9144000" cy="5143500" type="screen16x9"/>
  <p:notesSz cx="6858000" cy="9144000"/>
  <p:embeddedFontLst>
    <p:embeddedFont>
      <p:font typeface="Assistant" pitchFamily="2" charset="-79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2" d="100"/>
          <a:sy n="102" d="100"/>
        </p:scale>
        <p:origin x="826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1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b56d264711_0_2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b56d264711_0_2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1">
          <a:extLst>
            <a:ext uri="{FF2B5EF4-FFF2-40B4-BE49-F238E27FC236}">
              <a16:creationId xmlns:a16="http://schemas.microsoft.com/office/drawing/2014/main" id="{D6192A75-E317-3A37-011D-CAF0AD623D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2" name="Google Shape;442;gaf83f1124d_0_42:notes">
            <a:extLst>
              <a:ext uri="{FF2B5EF4-FFF2-40B4-BE49-F238E27FC236}">
                <a16:creationId xmlns:a16="http://schemas.microsoft.com/office/drawing/2014/main" id="{58030952-BD3C-730F-ABF6-F2AB14F677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3" name="Google Shape;443;gaf83f1124d_0_42:notes">
            <a:extLst>
              <a:ext uri="{FF2B5EF4-FFF2-40B4-BE49-F238E27FC236}">
                <a16:creationId xmlns:a16="http://schemas.microsoft.com/office/drawing/2014/main" id="{E952066E-C4D3-66C7-0DFE-6958CCB427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262195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7F17F4A4-7B31-EDAD-0EC0-CA2CB495F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B65746A6-C56C-3608-94ED-8D612D6A17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346E25DF-02BB-0492-2483-91483FEDC7E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948009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8">
          <a:extLst>
            <a:ext uri="{FF2B5EF4-FFF2-40B4-BE49-F238E27FC236}">
              <a16:creationId xmlns:a16="http://schemas.microsoft.com/office/drawing/2014/main" id="{2884FC93-A083-B33A-5BBE-AE74177867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gb56d264711_0_5:notes">
            <a:extLst>
              <a:ext uri="{FF2B5EF4-FFF2-40B4-BE49-F238E27FC236}">
                <a16:creationId xmlns:a16="http://schemas.microsoft.com/office/drawing/2014/main" id="{3EE32B68-788A-13C9-D0C4-6387E5337D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0" name="Google Shape;430;gb56d264711_0_5:notes">
            <a:extLst>
              <a:ext uri="{FF2B5EF4-FFF2-40B4-BE49-F238E27FC236}">
                <a16:creationId xmlns:a16="http://schemas.microsoft.com/office/drawing/2014/main" id="{48926836-E535-66A6-B221-10815AC174B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6779601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Google Shape;542;gaf83f1124d_0_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3" name="Google Shape;543;gaf83f1124d_0_8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4">
          <a:extLst>
            <a:ext uri="{FF2B5EF4-FFF2-40B4-BE49-F238E27FC236}">
              <a16:creationId xmlns:a16="http://schemas.microsoft.com/office/drawing/2014/main" id="{8B1B1816-A658-0F48-B731-0ECB1CA7E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gb56d264711_0_259:notes">
            <a:extLst>
              <a:ext uri="{FF2B5EF4-FFF2-40B4-BE49-F238E27FC236}">
                <a16:creationId xmlns:a16="http://schemas.microsoft.com/office/drawing/2014/main" id="{472CB9DF-D8A7-93DD-5157-602D8D752DC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6" name="Google Shape;456;gb56d264711_0_259:notes">
            <a:extLst>
              <a:ext uri="{FF2B5EF4-FFF2-40B4-BE49-F238E27FC236}">
                <a16:creationId xmlns:a16="http://schemas.microsoft.com/office/drawing/2014/main" id="{D67B1A43-74FE-C3A6-341D-495FA2C66E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580166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0" name="Google Shape;650;gb647448be2_1_4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1" name="Google Shape;651;gb647448be2_1_4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 2">
  <p:cSld name="TITLE_1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08910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5200"/>
              <a:buNone/>
              <a:defRPr sz="52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800"/>
              <a:buNone/>
              <a:defRPr sz="2800">
                <a:solidFill>
                  <a:schemeClr val="accent1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3"/>
          <p:cNvSpPr/>
          <p:nvPr/>
        </p:nvSpPr>
        <p:spPr>
          <a:xfrm>
            <a:off x="0" y="1243584"/>
            <a:ext cx="128100" cy="25689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3"/>
          <p:cNvSpPr/>
          <p:nvPr/>
        </p:nvSpPr>
        <p:spPr>
          <a:xfrm>
            <a:off x="6400750" y="2400375"/>
            <a:ext cx="2743242" cy="2743120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33" name="Google Shape;33;p3"/>
          <p:cNvSpPr txBox="1"/>
          <p:nvPr/>
        </p:nvSpPr>
        <p:spPr>
          <a:xfrm rot="-2700000">
            <a:off x="6647467" y="3651017"/>
            <a:ext cx="2757716" cy="5545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>
                <a:solidFill>
                  <a:schemeClr val="lt1"/>
                </a:solidFill>
                <a:latin typeface="Assistant"/>
                <a:ea typeface="Assistant"/>
                <a:cs typeface="Assistant"/>
                <a:sym typeface="Assistant"/>
              </a:rPr>
              <a:t>We use tech to connect human potential and opportunity with dignity &amp; humility   </a:t>
            </a:r>
            <a:endParaRPr sz="1000" b="1">
              <a:solidFill>
                <a:schemeClr val="lt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34" name="Google Shape;34;p3"/>
          <p:cNvSpPr/>
          <p:nvPr/>
        </p:nvSpPr>
        <p:spPr>
          <a:xfrm>
            <a:off x="8414775" y="4244650"/>
            <a:ext cx="418647" cy="418572"/>
          </a:xfrm>
          <a:custGeom>
            <a:avLst/>
            <a:gdLst/>
            <a:ahLst/>
            <a:cxnLst/>
            <a:rect l="l" t="t" r="r" b="b"/>
            <a:pathLst>
              <a:path w="73158" h="73145" extrusionOk="0">
                <a:moveTo>
                  <a:pt x="73158" y="73107"/>
                </a:moveTo>
                <a:lnTo>
                  <a:pt x="73158" y="0"/>
                </a:lnTo>
                <a:lnTo>
                  <a:pt x="0" y="73145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</p:sp>
      <p:sp>
        <p:nvSpPr>
          <p:cNvPr id="35" name="Google Shape;35;p3"/>
          <p:cNvSpPr/>
          <p:nvPr/>
        </p:nvSpPr>
        <p:spPr>
          <a:xfrm>
            <a:off x="8417710" y="342892"/>
            <a:ext cx="412800" cy="576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6" name="Google Shape;36;p3"/>
          <p:cNvGrpSpPr/>
          <p:nvPr/>
        </p:nvGrpSpPr>
        <p:grpSpPr>
          <a:xfrm>
            <a:off x="311726" y="342910"/>
            <a:ext cx="2560500" cy="520800"/>
            <a:chOff x="311726" y="342910"/>
            <a:chExt cx="2560500" cy="520800"/>
          </a:xfrm>
        </p:grpSpPr>
        <p:sp>
          <p:nvSpPr>
            <p:cNvPr id="37" name="Google Shape;37;p3"/>
            <p:cNvSpPr/>
            <p:nvPr/>
          </p:nvSpPr>
          <p:spPr>
            <a:xfrm>
              <a:off x="311726" y="342910"/>
              <a:ext cx="2560500" cy="5208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38" name="Google Shape;38;p3"/>
            <p:cNvPicPr preferRelativeResize="0"/>
            <p:nvPr/>
          </p:nvPicPr>
          <p:blipFill rotWithShape="1">
            <a:blip r:embed="rId2">
              <a:alphaModFix/>
            </a:blip>
            <a:srcRect l="377" r="387"/>
            <a:stretch/>
          </p:blipFill>
          <p:spPr>
            <a:xfrm>
              <a:off x="391788" y="382839"/>
              <a:ext cx="2400300" cy="44104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 1" type="tx">
  <p:cSld name="TITLE_AND_BODY"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7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7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0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0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0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000"/>
              </a:spcBef>
              <a:spcAft>
                <a:spcPts val="10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60" name="Google Shape;60;p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_AND_TWO_COLUMNS_1"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1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2679600" cy="36573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5" name="Google Shape;85;p1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6" name="Google Shape;86;p11"/>
          <p:cNvSpPr txBox="1">
            <a:spLocks noGrp="1"/>
          </p:cNvSpPr>
          <p:nvPr>
            <p:ph type="body" idx="2"/>
          </p:nvPr>
        </p:nvSpPr>
        <p:spPr>
          <a:xfrm>
            <a:off x="6152700" y="1005850"/>
            <a:ext cx="2679600" cy="36573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87" name="Google Shape;87;p11"/>
          <p:cNvSpPr txBox="1">
            <a:spLocks noGrp="1"/>
          </p:cNvSpPr>
          <p:nvPr>
            <p:ph type="body" idx="3"/>
          </p:nvPr>
        </p:nvSpPr>
        <p:spPr>
          <a:xfrm>
            <a:off x="3232200" y="1005850"/>
            <a:ext cx="2679600" cy="3657300"/>
          </a:xfrm>
          <a:prstGeom prst="rect">
            <a:avLst/>
          </a:prstGeom>
          <a:solidFill>
            <a:schemeClr val="accent3"/>
          </a:solidFill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rtl="0">
              <a:spcBef>
                <a:spcPts val="10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rtl="0">
              <a:spcBef>
                <a:spcPts val="10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rtl="0">
              <a:spcBef>
                <a:spcPts val="10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rtl="0">
              <a:spcBef>
                <a:spcPts val="1000"/>
              </a:spcBef>
              <a:spcAft>
                <a:spcPts val="10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 and contact">
  <p:cSld name="MAIN_POINT_1"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0" name="Google Shape;100;p15"/>
          <p:cNvGrpSpPr/>
          <p:nvPr/>
        </p:nvGrpSpPr>
        <p:grpSpPr>
          <a:xfrm rot="2700000">
            <a:off x="585683" y="481417"/>
            <a:ext cx="694882" cy="564848"/>
            <a:chOff x="919500" y="1916075"/>
            <a:chExt cx="1067700" cy="867900"/>
          </a:xfrm>
        </p:grpSpPr>
        <p:sp>
          <p:nvSpPr>
            <p:cNvPr id="101" name="Google Shape;101;p15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2" name="Google Shape;102;p15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03" name="Google Shape;103;p15"/>
          <p:cNvGrpSpPr/>
          <p:nvPr/>
        </p:nvGrpSpPr>
        <p:grpSpPr>
          <a:xfrm rot="8100000">
            <a:off x="7746888" y="3437645"/>
            <a:ext cx="912919" cy="742084"/>
            <a:chOff x="521400" y="3135325"/>
            <a:chExt cx="1067700" cy="867900"/>
          </a:xfrm>
        </p:grpSpPr>
        <p:sp>
          <p:nvSpPr>
            <p:cNvPr id="104" name="Google Shape;104;p15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5" name="Google Shape;105;p15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06" name="Google Shape;106;p15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00000" cy="2094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None/>
              <a:defRPr sz="4800">
                <a:solidFill>
                  <a:schemeClr val="accen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800"/>
              <a:buFont typeface="Assistant"/>
              <a:buNone/>
              <a:defRPr sz="4800">
                <a:solidFill>
                  <a:schemeClr val="accent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ssistant"/>
              <a:buNone/>
              <a:defRPr sz="2800" b="1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ssistant"/>
              <a:buChar char="●"/>
              <a:defRPr sz="180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marL="914400" lvl="1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marL="1371600" lvl="2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marL="1828800" lvl="3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marL="2286000" lvl="4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marL="2743200" lvl="5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marL="3200400" lvl="6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●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marL="3657600" lvl="7" indent="-3175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ssistant"/>
              <a:buChar char="○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marL="4114800" lvl="8" indent="-3175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1"/>
              </a:buClr>
              <a:buSzPts val="1400"/>
              <a:buFont typeface="Assistant"/>
              <a:buChar char="■"/>
              <a:defRPr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>
            <a:lvl1pPr lvl="0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1pPr>
            <a:lvl2pPr lvl="1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2pPr>
            <a:lvl3pPr lvl="2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3pPr>
            <a:lvl4pPr lvl="3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4pPr>
            <a:lvl5pPr lvl="4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5pPr>
            <a:lvl6pPr lvl="5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6pPr>
            <a:lvl7pPr lvl="6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7pPr>
            <a:lvl8pPr lvl="7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8pPr>
            <a:lvl9pPr lvl="8" algn="r">
              <a:buNone/>
              <a:defRPr sz="800">
                <a:solidFill>
                  <a:schemeClr val="dk2"/>
                </a:solidFill>
                <a:latin typeface="Assistant"/>
                <a:ea typeface="Assistant"/>
                <a:cs typeface="Assistant"/>
                <a:sym typeface="Assistant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9" name="Google Shape;9;p1"/>
          <p:cNvGrpSpPr/>
          <p:nvPr/>
        </p:nvGrpSpPr>
        <p:grpSpPr>
          <a:xfrm>
            <a:off x="8458848" y="343116"/>
            <a:ext cx="381224" cy="576102"/>
            <a:chOff x="8458848" y="343116"/>
            <a:chExt cx="381224" cy="576102"/>
          </a:xfrm>
        </p:grpSpPr>
        <p:sp>
          <p:nvSpPr>
            <p:cNvPr id="10" name="Google Shape;10;p1"/>
            <p:cNvSpPr/>
            <p:nvPr/>
          </p:nvSpPr>
          <p:spPr>
            <a:xfrm>
              <a:off x="8458848" y="343116"/>
              <a:ext cx="381224" cy="576102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11" name="Google Shape;11;p1"/>
            <p:cNvPicPr preferRelativeResize="0"/>
            <p:nvPr/>
          </p:nvPicPr>
          <p:blipFill rotWithShape="1">
            <a:blip r:embed="rId6">
              <a:alphaModFix/>
            </a:blip>
            <a:srcRect l="80" r="80"/>
            <a:stretch/>
          </p:blipFill>
          <p:spPr>
            <a:xfrm>
              <a:off x="8480104" y="384425"/>
              <a:ext cx="338711" cy="497406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3" r:id="rId2"/>
    <p:sldLayoutId id="2147483657" r:id="rId3"/>
    <p:sldLayoutId id="2147483661" r:id="rId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196">
          <p15:clr>
            <a:srgbClr val="EA4335"/>
          </p15:clr>
        </p15:guide>
        <p15:guide id="2" pos="5564">
          <p15:clr>
            <a:srgbClr val="EA4335"/>
          </p15:clr>
        </p15:guide>
        <p15:guide id="3" orient="horz" pos="216">
          <p15:clr>
            <a:srgbClr val="EA4335"/>
          </p15:clr>
        </p15:guide>
        <p15:guide id="4" orient="horz" pos="293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microsoft.com/office/2007/relationships/hdphoto" Target="../media/hdphoto1.wdp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37"/>
          <p:cNvSpPr txBox="1">
            <a:spLocks noGrp="1"/>
          </p:cNvSpPr>
          <p:nvPr>
            <p:ph type="ctrTitle"/>
          </p:nvPr>
        </p:nvSpPr>
        <p:spPr>
          <a:xfrm>
            <a:off x="311725" y="1243584"/>
            <a:ext cx="6553770" cy="1776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r>
              <a:rPr lang="en-US" dirty="0"/>
              <a:t>Accelerating Chip Layout Design using ML</a:t>
            </a:r>
            <a:endParaRPr lang="en-US" b="0" dirty="0"/>
          </a:p>
        </p:txBody>
      </p:sp>
      <p:sp>
        <p:nvSpPr>
          <p:cNvPr id="405" name="Google Shape;405;p37"/>
          <p:cNvSpPr txBox="1">
            <a:spLocks noGrp="1"/>
          </p:cNvSpPr>
          <p:nvPr>
            <p:ph type="subTitle" idx="1"/>
          </p:nvPr>
        </p:nvSpPr>
        <p:spPr>
          <a:xfrm>
            <a:off x="311725" y="3019874"/>
            <a:ext cx="6089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Predicting Area, Power, and Wire Length</a:t>
            </a:r>
            <a:endParaRPr dirty="0"/>
          </a:p>
        </p:txBody>
      </p:sp>
      <p:sp>
        <p:nvSpPr>
          <p:cNvPr id="406" name="Google Shape;406;p37"/>
          <p:cNvSpPr txBox="1"/>
          <p:nvPr/>
        </p:nvSpPr>
        <p:spPr>
          <a:xfrm>
            <a:off x="311700" y="4099375"/>
            <a:ext cx="2953800" cy="56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865"/>
              <a:buNone/>
            </a:pPr>
            <a:r>
              <a:rPr lang="en" sz="1000" b="1" dirty="0">
                <a:solidFill>
                  <a:schemeClr val="dk1"/>
                </a:solidFill>
                <a:latin typeface="Assistant"/>
                <a:ea typeface="Assistant"/>
                <a:cs typeface="Assistant"/>
                <a:sym typeface="Assistant"/>
              </a:rPr>
              <a:t>Name Jayesh Parab</a:t>
            </a:r>
            <a:endParaRPr sz="1000" b="1" dirty="0">
              <a:solidFill>
                <a:schemeClr val="dk1"/>
              </a:solidFill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07" name="Google Shape;407;p37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latin typeface="Assistant"/>
                <a:ea typeface="Assistant"/>
                <a:cs typeface="Assistant"/>
                <a:sym typeface="Assistant"/>
              </a:rPr>
              <a:t>Contents: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85206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Introduction</a:t>
            </a:r>
            <a:endParaRPr dirty="0"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Problem Statement</a:t>
            </a:r>
            <a:endParaRPr dirty="0"/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" dirty="0"/>
              <a:t>Solution</a:t>
            </a:r>
            <a:endParaRPr dirty="0"/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dirty="0"/>
              <a:t>Data Collection and cleaning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dirty="0"/>
              <a:t>Data Visualization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r>
              <a:rPr lang="en" dirty="0"/>
              <a:t>Model Selection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1000"/>
              </a:spcAft>
              <a:buSzPts val="1800"/>
              <a:buChar char="●"/>
            </a:pPr>
            <a:endParaRPr dirty="0"/>
          </a:p>
        </p:txBody>
      </p:sp>
      <p:sp>
        <p:nvSpPr>
          <p:cNvPr id="434" name="Google Shape;434;p4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</a:t>
            </a:fld>
            <a:endParaRPr/>
          </a:p>
        </p:txBody>
      </p:sp>
      <p:grpSp>
        <p:nvGrpSpPr>
          <p:cNvPr id="435" name="Google Shape;435;p41"/>
          <p:cNvGrpSpPr/>
          <p:nvPr/>
        </p:nvGrpSpPr>
        <p:grpSpPr>
          <a:xfrm rot="2700000">
            <a:off x="7815861" y="3738066"/>
            <a:ext cx="1067690" cy="867892"/>
            <a:chOff x="919500" y="1916075"/>
            <a:chExt cx="1067700" cy="867900"/>
          </a:xfrm>
        </p:grpSpPr>
        <p:sp>
          <p:nvSpPr>
            <p:cNvPr id="436" name="Google Shape;436;p41"/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/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/>
          <p:cNvGrpSpPr/>
          <p:nvPr/>
        </p:nvGrpSpPr>
        <p:grpSpPr>
          <a:xfrm rot="8100353">
            <a:off x="5197435" y="1802119"/>
            <a:ext cx="734820" cy="597312"/>
            <a:chOff x="521400" y="3135325"/>
            <a:chExt cx="1067700" cy="867900"/>
          </a:xfrm>
        </p:grpSpPr>
        <p:sp>
          <p:nvSpPr>
            <p:cNvPr id="439" name="Google Shape;439;p41"/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/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459" name="Google Shape;459;p43"/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7145907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just">
              <a:buNone/>
            </a:pPr>
            <a:r>
              <a:rPr lang="en-US" dirty="0"/>
              <a:t>Designing microchips (like those from Intel or NVIDIA) begins as code, which must be painstakingly translated into a physical blueprint of billions of transistors and wires a stage known as physical design. Because engineers must constantly tweak this blueprint to prevent overheating and power drain, the process becomes a massive, time-consuming game of trial and error. To solve this bottleneck, I developed a Machine Learning model that instantly predicts critical performance parameters, eliminating weeks of guesswork and drastically speeding up the journey from code to silicon.</a:t>
            </a:r>
            <a:endParaRPr dirty="0"/>
          </a:p>
        </p:txBody>
      </p:sp>
      <p:sp>
        <p:nvSpPr>
          <p:cNvPr id="460" name="Google Shape;460;p43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grpSp>
        <p:nvGrpSpPr>
          <p:cNvPr id="461" name="Google Shape;461;p43"/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/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/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370" y="1972579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Assistant"/>
                <a:ea typeface="Assistant"/>
                <a:cs typeface="Assistant"/>
                <a:sym typeface="Assistant"/>
              </a:rPr>
              <a:t>Problem: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4</a:t>
            </a:fld>
            <a:endParaRPr/>
          </a:p>
        </p:txBody>
      </p:sp>
      <p:grpSp>
        <p:nvGrpSpPr>
          <p:cNvPr id="448" name="Google Shape;448;p42"/>
          <p:cNvGrpSpPr/>
          <p:nvPr/>
        </p:nvGrpSpPr>
        <p:grpSpPr>
          <a:xfrm>
            <a:off x="311661" y="3944677"/>
            <a:ext cx="718488" cy="718488"/>
            <a:chOff x="3717325" y="2137000"/>
            <a:chExt cx="1104178" cy="1104176"/>
          </a:xfrm>
        </p:grpSpPr>
        <p:sp>
          <p:nvSpPr>
            <p:cNvPr id="449" name="Google Shape;449;p42"/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/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/>
          <p:cNvGrpSpPr/>
          <p:nvPr/>
        </p:nvGrpSpPr>
        <p:grpSpPr>
          <a:xfrm rot="10800000">
            <a:off x="7728135" y="3664403"/>
            <a:ext cx="1104178" cy="1104176"/>
            <a:chOff x="4185575" y="3320360"/>
            <a:chExt cx="1104178" cy="1104176"/>
          </a:xfrm>
        </p:grpSpPr>
        <p:sp>
          <p:nvSpPr>
            <p:cNvPr id="452" name="Google Shape;452;p42"/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/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DA3E83AE-52EA-DB1A-DD33-B03F95AB6A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52" y="1017176"/>
            <a:ext cx="1978639" cy="10801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42895EA-9669-6458-87BF-209EE67198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496" y="1017176"/>
            <a:ext cx="1978639" cy="10801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71F27EC-B8CC-5CEC-9C98-D478221268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930" y="2995601"/>
            <a:ext cx="1978639" cy="1080136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E734575A-DAC1-9C1F-CF78-833D2D442BCF}"/>
              </a:ext>
            </a:extLst>
          </p:cNvPr>
          <p:cNvSpPr/>
          <p:nvPr/>
        </p:nvSpPr>
        <p:spPr>
          <a:xfrm>
            <a:off x="3080479" y="1446551"/>
            <a:ext cx="2548328" cy="2023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E3A65456-B0BD-EBA3-D668-0902863AAB73}"/>
              </a:ext>
            </a:extLst>
          </p:cNvPr>
          <p:cNvSpPr/>
          <p:nvPr/>
        </p:nvSpPr>
        <p:spPr>
          <a:xfrm rot="10800000">
            <a:off x="5476146" y="2263513"/>
            <a:ext cx="1351873" cy="1502466"/>
          </a:xfrm>
          <a:prstGeom prst="bentArrow">
            <a:avLst>
              <a:gd name="adj1" fmla="val 7861"/>
              <a:gd name="adj2" fmla="val 9923"/>
              <a:gd name="adj3" fmla="val 10609"/>
              <a:gd name="adj4" fmla="val 3063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2DD2567D-E5A1-B270-907C-8212E813B96B}"/>
              </a:ext>
            </a:extLst>
          </p:cNvPr>
          <p:cNvSpPr/>
          <p:nvPr/>
        </p:nvSpPr>
        <p:spPr>
          <a:xfrm rot="16200000">
            <a:off x="1819878" y="2188217"/>
            <a:ext cx="1351873" cy="1502466"/>
          </a:xfrm>
          <a:prstGeom prst="bentArrow">
            <a:avLst>
              <a:gd name="adj1" fmla="val 7861"/>
              <a:gd name="adj2" fmla="val 9923"/>
              <a:gd name="adj3" fmla="val 10609"/>
              <a:gd name="adj4" fmla="val 3063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4EA96E9-45FA-4066-6841-576490F8EEC2}"/>
              </a:ext>
            </a:extLst>
          </p:cNvPr>
          <p:cNvSpPr txBox="1"/>
          <p:nvPr/>
        </p:nvSpPr>
        <p:spPr>
          <a:xfrm>
            <a:off x="3873581" y="1117626"/>
            <a:ext cx="9621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Synthesis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BC5E4F-97AA-9C97-0B01-6CC592AECBE3}"/>
              </a:ext>
            </a:extLst>
          </p:cNvPr>
          <p:cNvSpPr txBox="1"/>
          <p:nvPr/>
        </p:nvSpPr>
        <p:spPr>
          <a:xfrm>
            <a:off x="3625917" y="1670066"/>
            <a:ext cx="14574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Time: few hours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FF9BE0A-C9CB-259F-3806-FF15F2878DED}"/>
              </a:ext>
            </a:extLst>
          </p:cNvPr>
          <p:cNvSpPr txBox="1"/>
          <p:nvPr/>
        </p:nvSpPr>
        <p:spPr>
          <a:xfrm>
            <a:off x="5749496" y="2845081"/>
            <a:ext cx="854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Physical Design</a:t>
            </a: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EC249DD-8BD8-68C3-EE26-BE589DB2148C}"/>
              </a:ext>
            </a:extLst>
          </p:cNvPr>
          <p:cNvSpPr txBox="1"/>
          <p:nvPr/>
        </p:nvSpPr>
        <p:spPr>
          <a:xfrm>
            <a:off x="6885911" y="2845081"/>
            <a:ext cx="10026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Time: few days</a:t>
            </a:r>
            <a:endParaRPr lang="en-IN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C9A8374-6EF8-174A-6DD4-422054955B7C}"/>
              </a:ext>
            </a:extLst>
          </p:cNvPr>
          <p:cNvSpPr txBox="1"/>
          <p:nvPr/>
        </p:nvSpPr>
        <p:spPr>
          <a:xfrm>
            <a:off x="2161725" y="2570118"/>
            <a:ext cx="918754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Issue with design</a:t>
            </a:r>
            <a:endParaRPr lang="en-IN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DDF1A1-0585-D4D0-CABB-2A0D8AA05608}"/>
              </a:ext>
            </a:extLst>
          </p:cNvPr>
          <p:cNvSpPr txBox="1"/>
          <p:nvPr/>
        </p:nvSpPr>
        <p:spPr>
          <a:xfrm>
            <a:off x="519534" y="2518547"/>
            <a:ext cx="128099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 parameters and repeat this process </a:t>
            </a:r>
            <a:endParaRPr lang="en-IN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4">
          <a:extLst>
            <a:ext uri="{FF2B5EF4-FFF2-40B4-BE49-F238E27FC236}">
              <a16:creationId xmlns:a16="http://schemas.microsoft.com/office/drawing/2014/main" id="{B926B7D4-A54B-AE31-5AC2-741396436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42">
            <a:extLst>
              <a:ext uri="{FF2B5EF4-FFF2-40B4-BE49-F238E27FC236}">
                <a16:creationId xmlns:a16="http://schemas.microsoft.com/office/drawing/2014/main" id="{56FFC7CA-25FC-A727-53EE-3CC28560FC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Assistant"/>
                <a:ea typeface="Assistant"/>
                <a:cs typeface="Assistant"/>
                <a:sym typeface="Assistant"/>
              </a:rPr>
              <a:t>Solution: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47" name="Google Shape;447;p42">
            <a:extLst>
              <a:ext uri="{FF2B5EF4-FFF2-40B4-BE49-F238E27FC236}">
                <a16:creationId xmlns:a16="http://schemas.microsoft.com/office/drawing/2014/main" id="{A564A1E9-E1BB-EEA5-18E1-06EC7047461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5</a:t>
            </a:fld>
            <a:endParaRPr/>
          </a:p>
        </p:txBody>
      </p:sp>
      <p:grpSp>
        <p:nvGrpSpPr>
          <p:cNvPr id="448" name="Google Shape;448;p42">
            <a:extLst>
              <a:ext uri="{FF2B5EF4-FFF2-40B4-BE49-F238E27FC236}">
                <a16:creationId xmlns:a16="http://schemas.microsoft.com/office/drawing/2014/main" id="{9AAFDDEE-3FFD-DBC2-C274-41151BA40C11}"/>
              </a:ext>
            </a:extLst>
          </p:cNvPr>
          <p:cNvGrpSpPr/>
          <p:nvPr/>
        </p:nvGrpSpPr>
        <p:grpSpPr>
          <a:xfrm>
            <a:off x="8229435" y="1378823"/>
            <a:ext cx="718488" cy="718488"/>
            <a:chOff x="3717325" y="2137000"/>
            <a:chExt cx="1104178" cy="1104176"/>
          </a:xfrm>
        </p:grpSpPr>
        <p:sp>
          <p:nvSpPr>
            <p:cNvPr id="449" name="Google Shape;449;p42">
              <a:extLst>
                <a:ext uri="{FF2B5EF4-FFF2-40B4-BE49-F238E27FC236}">
                  <a16:creationId xmlns:a16="http://schemas.microsoft.com/office/drawing/2014/main" id="{72648FD3-C4D0-13BA-7DA3-3EACC05A9FF6}"/>
                </a:ext>
              </a:extLst>
            </p:cNvPr>
            <p:cNvSpPr/>
            <p:nvPr/>
          </p:nvSpPr>
          <p:spPr>
            <a:xfrm>
              <a:off x="3717325" y="2238576"/>
              <a:ext cx="1002600" cy="10026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0" name="Google Shape;450;p42">
              <a:extLst>
                <a:ext uri="{FF2B5EF4-FFF2-40B4-BE49-F238E27FC236}">
                  <a16:creationId xmlns:a16="http://schemas.microsoft.com/office/drawing/2014/main" id="{7BEB87EA-6B56-D480-74ED-2F526F058410}"/>
                </a:ext>
              </a:extLst>
            </p:cNvPr>
            <p:cNvSpPr/>
            <p:nvPr/>
          </p:nvSpPr>
          <p:spPr>
            <a:xfrm>
              <a:off x="3818903" y="213700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51" name="Google Shape;451;p42">
            <a:extLst>
              <a:ext uri="{FF2B5EF4-FFF2-40B4-BE49-F238E27FC236}">
                <a16:creationId xmlns:a16="http://schemas.microsoft.com/office/drawing/2014/main" id="{BCB0B5A9-1D77-0DCE-31D1-497E277DDCCC}"/>
              </a:ext>
            </a:extLst>
          </p:cNvPr>
          <p:cNvGrpSpPr/>
          <p:nvPr/>
        </p:nvGrpSpPr>
        <p:grpSpPr>
          <a:xfrm rot="10800000">
            <a:off x="7728135" y="3664403"/>
            <a:ext cx="1104178" cy="1104176"/>
            <a:chOff x="4185575" y="3320360"/>
            <a:chExt cx="1104178" cy="1104176"/>
          </a:xfrm>
        </p:grpSpPr>
        <p:sp>
          <p:nvSpPr>
            <p:cNvPr id="452" name="Google Shape;452;p42">
              <a:extLst>
                <a:ext uri="{FF2B5EF4-FFF2-40B4-BE49-F238E27FC236}">
                  <a16:creationId xmlns:a16="http://schemas.microsoft.com/office/drawing/2014/main" id="{74B3B88C-E5FD-6B1C-30D2-54C2CD3F8F36}"/>
                </a:ext>
              </a:extLst>
            </p:cNvPr>
            <p:cNvSpPr/>
            <p:nvPr/>
          </p:nvSpPr>
          <p:spPr>
            <a:xfrm>
              <a:off x="4185575" y="3421936"/>
              <a:ext cx="1002600" cy="10026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3" name="Google Shape;453;p42">
              <a:extLst>
                <a:ext uri="{FF2B5EF4-FFF2-40B4-BE49-F238E27FC236}">
                  <a16:creationId xmlns:a16="http://schemas.microsoft.com/office/drawing/2014/main" id="{80888870-E18C-FE6A-7723-29D9B695B399}"/>
                </a:ext>
              </a:extLst>
            </p:cNvPr>
            <p:cNvSpPr/>
            <p:nvPr/>
          </p:nvSpPr>
          <p:spPr>
            <a:xfrm>
              <a:off x="4287153" y="3320360"/>
              <a:ext cx="1002600" cy="1002600"/>
            </a:xfrm>
            <a:prstGeom prst="ellipse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FA-E673-C5F4-976D-FD50F25058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052" y="1017176"/>
            <a:ext cx="1978639" cy="10801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FD2554C-1B90-F73E-3232-9A1F56FD1F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49496" y="1017176"/>
            <a:ext cx="1978639" cy="108013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CE7B858-1723-663D-F145-A0A33C96FE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95930" y="3450812"/>
            <a:ext cx="1978639" cy="1080136"/>
          </a:xfrm>
          <a:prstGeom prst="rect">
            <a:avLst/>
          </a:prstGeom>
        </p:spPr>
      </p:pic>
      <p:sp>
        <p:nvSpPr>
          <p:cNvPr id="12" name="Arrow: Right 11">
            <a:extLst>
              <a:ext uri="{FF2B5EF4-FFF2-40B4-BE49-F238E27FC236}">
                <a16:creationId xmlns:a16="http://schemas.microsoft.com/office/drawing/2014/main" id="{73D96DD6-AE84-5737-6627-0C8A4E27272B}"/>
              </a:ext>
            </a:extLst>
          </p:cNvPr>
          <p:cNvSpPr/>
          <p:nvPr/>
        </p:nvSpPr>
        <p:spPr>
          <a:xfrm>
            <a:off x="3080479" y="1446551"/>
            <a:ext cx="2548328" cy="2023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row: Bent 16">
            <a:extLst>
              <a:ext uri="{FF2B5EF4-FFF2-40B4-BE49-F238E27FC236}">
                <a16:creationId xmlns:a16="http://schemas.microsoft.com/office/drawing/2014/main" id="{D0E50014-46FE-61A0-7A89-9D46B38914C5}"/>
              </a:ext>
            </a:extLst>
          </p:cNvPr>
          <p:cNvSpPr/>
          <p:nvPr/>
        </p:nvSpPr>
        <p:spPr>
          <a:xfrm rot="10800000">
            <a:off x="5476144" y="2263512"/>
            <a:ext cx="1351873" cy="1862812"/>
          </a:xfrm>
          <a:prstGeom prst="bentArrow">
            <a:avLst>
              <a:gd name="adj1" fmla="val 7861"/>
              <a:gd name="adj2" fmla="val 9923"/>
              <a:gd name="adj3" fmla="val 10609"/>
              <a:gd name="adj4" fmla="val 3063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8" name="Arrow: Bent 17">
            <a:extLst>
              <a:ext uri="{FF2B5EF4-FFF2-40B4-BE49-F238E27FC236}">
                <a16:creationId xmlns:a16="http://schemas.microsoft.com/office/drawing/2014/main" id="{EC5A7531-E946-9816-86EA-B4CEB2E7F9E6}"/>
              </a:ext>
            </a:extLst>
          </p:cNvPr>
          <p:cNvSpPr/>
          <p:nvPr/>
        </p:nvSpPr>
        <p:spPr>
          <a:xfrm rot="16200000">
            <a:off x="3945409" y="62687"/>
            <a:ext cx="572701" cy="4974356"/>
          </a:xfrm>
          <a:prstGeom prst="bentArrow">
            <a:avLst>
              <a:gd name="adj1" fmla="val 18331"/>
              <a:gd name="adj2" fmla="val 21702"/>
              <a:gd name="adj3" fmla="val 23696"/>
              <a:gd name="adj4" fmla="val 30635"/>
            </a:avLst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F60051D-16DD-3FAF-0F46-E0D07E8D3F3D}"/>
              </a:ext>
            </a:extLst>
          </p:cNvPr>
          <p:cNvSpPr txBox="1"/>
          <p:nvPr/>
        </p:nvSpPr>
        <p:spPr>
          <a:xfrm>
            <a:off x="3873581" y="1117626"/>
            <a:ext cx="9621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Synthesis</a:t>
            </a:r>
            <a:endParaRPr lang="en-IN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42C424-A296-1CC0-0996-652A56BD1943}"/>
              </a:ext>
            </a:extLst>
          </p:cNvPr>
          <p:cNvSpPr txBox="1"/>
          <p:nvPr/>
        </p:nvSpPr>
        <p:spPr>
          <a:xfrm>
            <a:off x="3625917" y="1670066"/>
            <a:ext cx="14574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Time: few hours</a:t>
            </a:r>
            <a:endParaRPr lang="en-IN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E47DCA-2483-F512-8B3C-08A424CFB07B}"/>
              </a:ext>
            </a:extLst>
          </p:cNvPr>
          <p:cNvSpPr txBox="1"/>
          <p:nvPr/>
        </p:nvSpPr>
        <p:spPr>
          <a:xfrm>
            <a:off x="5696912" y="3321434"/>
            <a:ext cx="8544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Physical Design</a:t>
            </a:r>
            <a:endParaRPr lang="en-IN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E1BC28A-2D23-4B26-006B-D93F9BE01712}"/>
              </a:ext>
            </a:extLst>
          </p:cNvPr>
          <p:cNvSpPr txBox="1"/>
          <p:nvPr/>
        </p:nvSpPr>
        <p:spPr>
          <a:xfrm>
            <a:off x="5724860" y="4182933"/>
            <a:ext cx="9307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Time: few days</a:t>
            </a:r>
            <a:endParaRPr lang="en-IN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7D02C-4D1F-4AC4-28D0-246655D6C589}"/>
              </a:ext>
            </a:extLst>
          </p:cNvPr>
          <p:cNvSpPr txBox="1"/>
          <p:nvPr/>
        </p:nvSpPr>
        <p:spPr>
          <a:xfrm>
            <a:off x="2558060" y="2382702"/>
            <a:ext cx="365437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Predicting Results of Physical Design stage</a:t>
            </a:r>
            <a:endParaRPr lang="en-IN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EA03209-31F0-247E-B1A3-4F1AD25EB331}"/>
              </a:ext>
            </a:extLst>
          </p:cNvPr>
          <p:cNvSpPr txBox="1"/>
          <p:nvPr/>
        </p:nvSpPr>
        <p:spPr>
          <a:xfrm>
            <a:off x="3509379" y="2852519"/>
            <a:ext cx="175173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Time: few minutes</a:t>
            </a:r>
            <a:endParaRPr lang="en-IN" dirty="0"/>
          </a:p>
        </p:txBody>
      </p:sp>
      <p:pic>
        <p:nvPicPr>
          <p:cNvPr id="1026" name="Picture 2" descr="CPU Processor Chip at ₹ 3000/piece | Faridabad | ID: 22271246133">
            <a:extLst>
              <a:ext uri="{FF2B5EF4-FFF2-40B4-BE49-F238E27FC236}">
                <a16:creationId xmlns:a16="http://schemas.microsoft.com/office/drawing/2014/main" id="{AF80FF77-E24B-F861-3604-44FC616385F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6400" b="91200" l="1000" r="98000">
                        <a14:foregroundMark x1="6400" y1="68600" x2="11200" y2="58000"/>
                        <a14:foregroundMark x1="93000" y1="22000" x2="91400" y2="29800"/>
                        <a14:foregroundMark x1="30600" y1="11800" x2="30800" y2="11400"/>
                        <a14:backgroundMark x1="34000" y1="80600" x2="6200" y2="75000"/>
                        <a14:backgroundMark x1="60200" y1="85600" x2="72600" y2="88600"/>
                        <a14:backgroundMark x1="87600" y1="48400" x2="96600" y2="242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4052" y="3445226"/>
            <a:ext cx="1080136" cy="1080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rrow: Right 2">
            <a:extLst>
              <a:ext uri="{FF2B5EF4-FFF2-40B4-BE49-F238E27FC236}">
                <a16:creationId xmlns:a16="http://schemas.microsoft.com/office/drawing/2014/main" id="{44764FCE-54C7-9A49-F9C7-C51ABC299E54}"/>
              </a:ext>
            </a:extLst>
          </p:cNvPr>
          <p:cNvSpPr/>
          <p:nvPr/>
        </p:nvSpPr>
        <p:spPr>
          <a:xfrm rot="10800000">
            <a:off x="2052925" y="3884110"/>
            <a:ext cx="1241427" cy="2023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C8EDFEF-E365-569C-BBE9-A8D55858E583}"/>
              </a:ext>
            </a:extLst>
          </p:cNvPr>
          <p:cNvSpPr txBox="1"/>
          <p:nvPr/>
        </p:nvSpPr>
        <p:spPr>
          <a:xfrm>
            <a:off x="1927997" y="4126324"/>
            <a:ext cx="14679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Prediction and software values are same </a:t>
            </a:r>
            <a:endParaRPr lang="en-IN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415155-389B-CC1D-21B0-4B6298E0BC92}"/>
              </a:ext>
            </a:extLst>
          </p:cNvPr>
          <p:cNvSpPr txBox="1"/>
          <p:nvPr/>
        </p:nvSpPr>
        <p:spPr>
          <a:xfrm>
            <a:off x="6839816" y="2852519"/>
            <a:ext cx="106070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Only if predicted values feels Right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9015914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F9EBE416-60ED-D46B-9D98-7EC56BD59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46E957B8-B069-7BDC-496C-550C7F7B24C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" dirty="0"/>
              <a:t>Data Collection and cleaning</a:t>
            </a:r>
            <a:r>
              <a:rPr lang="en" b="1" dirty="0">
                <a:latin typeface="Assistant"/>
                <a:ea typeface="Assistant"/>
                <a:cs typeface="Assistant"/>
                <a:sym typeface="Assistant"/>
              </a:rPr>
              <a:t>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3" name="Google Shape;433;p41">
            <a:extLst>
              <a:ext uri="{FF2B5EF4-FFF2-40B4-BE49-F238E27FC236}">
                <a16:creationId xmlns:a16="http://schemas.microsoft.com/office/drawing/2014/main" id="{C37DE8B8-C1B3-CA78-381A-FEBD38B0BD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4536000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Got My data from GitHub in Individual JSON file, I combined all JSON file in one CSV.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Removed Unwanted Columns which are not needed for my targets.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Removed rows with NA or missing data, after that I came to 20729 Rows.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Removed Outlying data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endParaRPr dirty="0"/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DB1AA57A-D00E-F3F2-C82C-9AF3715F076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6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86347272-3802-BA68-4131-EE1E1A91A906}"/>
              </a:ext>
            </a:extLst>
          </p:cNvPr>
          <p:cNvGrpSpPr/>
          <p:nvPr/>
        </p:nvGrpSpPr>
        <p:grpSpPr>
          <a:xfrm rot="2700000">
            <a:off x="7815861" y="3738066"/>
            <a:ext cx="1067690" cy="867892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AACCF823-0407-1A85-C7D7-327F79243BE6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34769897-2186-9866-CD3D-E901F9928441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BC6436E5-6729-ABF0-9FF8-CF6B932DECE3}"/>
              </a:ext>
            </a:extLst>
          </p:cNvPr>
          <p:cNvGrpSpPr/>
          <p:nvPr/>
        </p:nvGrpSpPr>
        <p:grpSpPr>
          <a:xfrm rot="8100353">
            <a:off x="6285841" y="3900295"/>
            <a:ext cx="734820" cy="597312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D6C41A37-50B2-4F5D-BEA4-96980A52692D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BCBAF26D-DDA6-EBC6-BA13-F3DE33E3069A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E743B2D8-6E09-6334-A54F-37BF9F592A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88458" y="1262129"/>
            <a:ext cx="3342069" cy="9079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C350E1-7BD9-6939-86E2-D6EF412B2C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458" y="2223972"/>
            <a:ext cx="3342069" cy="860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32205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1">
          <a:extLst>
            <a:ext uri="{FF2B5EF4-FFF2-40B4-BE49-F238E27FC236}">
              <a16:creationId xmlns:a16="http://schemas.microsoft.com/office/drawing/2014/main" id="{D1F76EE4-5C15-18BA-E755-AAACE781EA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p41">
            <a:extLst>
              <a:ext uri="{FF2B5EF4-FFF2-40B4-BE49-F238E27FC236}">
                <a16:creationId xmlns:a16="http://schemas.microsoft.com/office/drawing/2014/main" id="{F6057E9E-664B-FFC6-ECCA-BF1127C7DE9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r>
              <a:rPr lang="en" dirty="0"/>
              <a:t>Data Visualization</a:t>
            </a:r>
            <a:r>
              <a:rPr lang="en" b="1" dirty="0">
                <a:latin typeface="Assistant"/>
                <a:ea typeface="Assistant"/>
                <a:cs typeface="Assistant"/>
                <a:sym typeface="Assistant"/>
              </a:rPr>
              <a:t>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434" name="Google Shape;434;p41">
            <a:extLst>
              <a:ext uri="{FF2B5EF4-FFF2-40B4-BE49-F238E27FC236}">
                <a16:creationId xmlns:a16="http://schemas.microsoft.com/office/drawing/2014/main" id="{AFA622B1-056E-AC05-3E07-902D546C401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7</a:t>
            </a:fld>
            <a:endParaRPr/>
          </a:p>
        </p:txBody>
      </p:sp>
      <p:grpSp>
        <p:nvGrpSpPr>
          <p:cNvPr id="435" name="Google Shape;435;p41">
            <a:extLst>
              <a:ext uri="{FF2B5EF4-FFF2-40B4-BE49-F238E27FC236}">
                <a16:creationId xmlns:a16="http://schemas.microsoft.com/office/drawing/2014/main" id="{3E466215-C3BF-01F7-8530-5ADFF1CF2508}"/>
              </a:ext>
            </a:extLst>
          </p:cNvPr>
          <p:cNvGrpSpPr/>
          <p:nvPr/>
        </p:nvGrpSpPr>
        <p:grpSpPr>
          <a:xfrm rot="2700000">
            <a:off x="7815861" y="3738066"/>
            <a:ext cx="1067690" cy="867892"/>
            <a:chOff x="919500" y="1916075"/>
            <a:chExt cx="1067700" cy="867900"/>
          </a:xfrm>
        </p:grpSpPr>
        <p:sp>
          <p:nvSpPr>
            <p:cNvPr id="436" name="Google Shape;436;p41">
              <a:extLst>
                <a:ext uri="{FF2B5EF4-FFF2-40B4-BE49-F238E27FC236}">
                  <a16:creationId xmlns:a16="http://schemas.microsoft.com/office/drawing/2014/main" id="{17A82A72-1AD1-916F-3042-3821F0F50E7B}"/>
                </a:ext>
              </a:extLst>
            </p:cNvPr>
            <p:cNvSpPr/>
            <p:nvPr/>
          </p:nvSpPr>
          <p:spPr>
            <a:xfrm>
              <a:off x="919500" y="199227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37" name="Google Shape;437;p41">
              <a:extLst>
                <a:ext uri="{FF2B5EF4-FFF2-40B4-BE49-F238E27FC236}">
                  <a16:creationId xmlns:a16="http://schemas.microsoft.com/office/drawing/2014/main" id="{EC04B24E-7715-F488-AAEA-1888CB5D0DAC}"/>
                </a:ext>
              </a:extLst>
            </p:cNvPr>
            <p:cNvSpPr/>
            <p:nvPr/>
          </p:nvSpPr>
          <p:spPr>
            <a:xfrm>
              <a:off x="1071900" y="191607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38" name="Google Shape;438;p41">
            <a:extLst>
              <a:ext uri="{FF2B5EF4-FFF2-40B4-BE49-F238E27FC236}">
                <a16:creationId xmlns:a16="http://schemas.microsoft.com/office/drawing/2014/main" id="{589330ED-4925-DC57-9D42-FD6CF4656F88}"/>
              </a:ext>
            </a:extLst>
          </p:cNvPr>
          <p:cNvGrpSpPr/>
          <p:nvPr/>
        </p:nvGrpSpPr>
        <p:grpSpPr>
          <a:xfrm rot="8100353">
            <a:off x="6336746" y="3090576"/>
            <a:ext cx="734820" cy="597312"/>
            <a:chOff x="521400" y="3135325"/>
            <a:chExt cx="1067700" cy="867900"/>
          </a:xfrm>
        </p:grpSpPr>
        <p:sp>
          <p:nvSpPr>
            <p:cNvPr id="439" name="Google Shape;439;p41">
              <a:extLst>
                <a:ext uri="{FF2B5EF4-FFF2-40B4-BE49-F238E27FC236}">
                  <a16:creationId xmlns:a16="http://schemas.microsoft.com/office/drawing/2014/main" id="{2CC75D95-E2DE-0AD2-FDA5-A192054466AC}"/>
                </a:ext>
              </a:extLst>
            </p:cNvPr>
            <p:cNvSpPr/>
            <p:nvPr/>
          </p:nvSpPr>
          <p:spPr>
            <a:xfrm>
              <a:off x="521400" y="3211525"/>
              <a:ext cx="915300" cy="791700"/>
            </a:xfrm>
            <a:prstGeom prst="triangle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0" name="Google Shape;440;p41">
              <a:extLst>
                <a:ext uri="{FF2B5EF4-FFF2-40B4-BE49-F238E27FC236}">
                  <a16:creationId xmlns:a16="http://schemas.microsoft.com/office/drawing/2014/main" id="{EBF6CADE-654E-DDB4-6916-BF1FD8DE9E14}"/>
                </a:ext>
              </a:extLst>
            </p:cNvPr>
            <p:cNvSpPr/>
            <p:nvPr/>
          </p:nvSpPr>
          <p:spPr>
            <a:xfrm>
              <a:off x="673800" y="3135325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2FB835A1-E047-85D5-2C13-6798BA271559}"/>
              </a:ext>
            </a:extLst>
          </p:cNvPr>
          <p:cNvGrpSpPr/>
          <p:nvPr/>
        </p:nvGrpSpPr>
        <p:grpSpPr>
          <a:xfrm>
            <a:off x="311687" y="913924"/>
            <a:ext cx="5431250" cy="3985848"/>
            <a:chOff x="1216889" y="913924"/>
            <a:chExt cx="5431250" cy="3985848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DAD84C24-0852-B2B9-B38F-FF1F16440DE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16889" y="915600"/>
              <a:ext cx="2158002" cy="1906728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E6CD3988-3922-67B7-1556-40D570973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696189" y="913924"/>
              <a:ext cx="2072922" cy="1908404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6A3466D2-17AE-95F8-341B-EA670F7A372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216889" y="2986124"/>
              <a:ext cx="2136420" cy="1913648"/>
            </a:xfrm>
            <a:prstGeom prst="rect">
              <a:avLst/>
            </a:prstGeom>
          </p:spPr>
        </p:pic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D58453D-A33A-EA72-EB18-88F73736CAD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514953" y="2986124"/>
              <a:ext cx="3133186" cy="1908404"/>
            </a:xfrm>
            <a:prstGeom prst="rect">
              <a:avLst/>
            </a:prstGeom>
          </p:spPr>
        </p:pic>
      </p:grpSp>
      <p:sp>
        <p:nvSpPr>
          <p:cNvPr id="15" name="Google Shape;433;p41">
            <a:extLst>
              <a:ext uri="{FF2B5EF4-FFF2-40B4-BE49-F238E27FC236}">
                <a16:creationId xmlns:a16="http://schemas.microsoft.com/office/drawing/2014/main" id="{38C3B10B-1D00-02D2-BBF9-113A961562E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5185206" y="936709"/>
            <a:ext cx="3551781" cy="204941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Blue dots are 180nm chips.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Orange dots are 130nm chips.</a:t>
            </a:r>
          </a:p>
          <a:p>
            <a:pPr marL="457200" lvl="0" indent="-342900" algn="l" rtl="0">
              <a:spcBef>
                <a:spcPts val="1000"/>
              </a:spcBef>
              <a:spcAft>
                <a:spcPts val="0"/>
              </a:spcAft>
              <a:buSzPts val="1800"/>
              <a:buChar char="●"/>
            </a:pPr>
            <a:r>
              <a:rPr lang="en-US" dirty="0"/>
              <a:t>I also plotted distribution graph.</a:t>
            </a:r>
          </a:p>
        </p:txBody>
      </p:sp>
    </p:spTree>
    <p:extLst>
      <p:ext uri="{BB962C8B-B14F-4D97-AF65-F5344CB8AC3E}">
        <p14:creationId xmlns:p14="http://schemas.microsoft.com/office/powerpoint/2010/main" val="1868664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51"/>
          <p:cNvSpPr/>
          <p:nvPr/>
        </p:nvSpPr>
        <p:spPr>
          <a:xfrm rot="2700000">
            <a:off x="1129231" y="2119909"/>
            <a:ext cx="1044538" cy="903682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6" name="Google Shape;546;p51"/>
          <p:cNvSpPr/>
          <p:nvPr/>
        </p:nvSpPr>
        <p:spPr>
          <a:xfrm rot="8100000">
            <a:off x="4049731" y="2382659"/>
            <a:ext cx="1044538" cy="903682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7" name="Google Shape;547;p51"/>
          <p:cNvSpPr/>
          <p:nvPr/>
        </p:nvSpPr>
        <p:spPr>
          <a:xfrm rot="-8101396">
            <a:off x="6970231" y="2382871"/>
            <a:ext cx="1044538" cy="903258"/>
          </a:xfrm>
          <a:prstGeom prst="triangle">
            <a:avLst>
              <a:gd name="adj" fmla="val 50000"/>
            </a:avLst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8" name="Google Shape;548;p51"/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>
                <a:latin typeface="Assistant"/>
                <a:ea typeface="Assistant"/>
                <a:cs typeface="Assistant"/>
                <a:sym typeface="Assistant"/>
              </a:rPr>
              <a:t>Model Selection:</a:t>
            </a:r>
            <a:endParaRPr b="1" dirty="0">
              <a:latin typeface="Assistant"/>
              <a:ea typeface="Assistant"/>
              <a:cs typeface="Assistant"/>
              <a:sym typeface="Assistant"/>
            </a:endParaRPr>
          </a:p>
        </p:txBody>
      </p:sp>
      <p:sp>
        <p:nvSpPr>
          <p:cNvPr id="549" name="Google Shape;549;p51"/>
          <p:cNvSpPr txBox="1">
            <a:spLocks noGrp="1"/>
          </p:cNvSpPr>
          <p:nvPr>
            <p:ph type="body" idx="1"/>
          </p:nvPr>
        </p:nvSpPr>
        <p:spPr>
          <a:xfrm>
            <a:off x="311700" y="1005850"/>
            <a:ext cx="2679600" cy="3657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 dirty="0"/>
              <a:t>Linear Regression:</a:t>
            </a:r>
          </a:p>
          <a:p>
            <a:pPr marL="0" lvl="0" indent="0" algn="just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IN" dirty="0"/>
              <a:t>Initially tried this model without much data processing, and got poor results with r2 score of 0.5. to Improve this I tried removing all NA rows, outlier data, and high corelated features.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r>
              <a:rPr lang="en-IN" b="1" dirty="0"/>
              <a:t>Final Results:</a:t>
            </a:r>
          </a:p>
          <a:p>
            <a:pPr marL="0" lvl="0" indent="0" algn="l" rtl="0">
              <a:spcBef>
                <a:spcPts val="1000"/>
              </a:spcBef>
              <a:spcAft>
                <a:spcPts val="0"/>
              </a:spcAft>
              <a:buNone/>
            </a:pPr>
            <a:endParaRPr lang="en-IN" b="1" dirty="0"/>
          </a:p>
        </p:txBody>
      </p:sp>
      <p:sp>
        <p:nvSpPr>
          <p:cNvPr id="550" name="Google Shape;550;p51"/>
          <p:cNvSpPr txBox="1">
            <a:spLocks noGrp="1"/>
          </p:cNvSpPr>
          <p:nvPr>
            <p:ph type="body" idx="2"/>
          </p:nvPr>
        </p:nvSpPr>
        <p:spPr>
          <a:xfrm>
            <a:off x="6152700" y="1005850"/>
            <a:ext cx="2679600" cy="3657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b="1" dirty="0"/>
              <a:t>Random Forest Regression:</a:t>
            </a:r>
          </a:p>
          <a:p>
            <a:pPr marL="0" lvl="0" indent="0" algn="just">
              <a:spcBef>
                <a:spcPts val="1000"/>
              </a:spcBef>
              <a:buNone/>
            </a:pPr>
            <a:r>
              <a:rPr lang="en-US" dirty="0"/>
              <a:t>I tried to use this model to improve on the polynomial regression. Even on the raw data this model performed well I got r2 score of 0.95, after cleaning the data, r2 score improved slightly.</a:t>
            </a:r>
          </a:p>
          <a:p>
            <a:pPr marL="0" lvl="0" indent="0" algn="just">
              <a:spcBef>
                <a:spcPts val="1000"/>
              </a:spcBef>
              <a:buNone/>
            </a:pPr>
            <a:r>
              <a:rPr lang="en-US" b="1" dirty="0"/>
              <a:t>Final Results:</a:t>
            </a:r>
          </a:p>
        </p:txBody>
      </p:sp>
      <p:sp>
        <p:nvSpPr>
          <p:cNvPr id="551" name="Google Shape;551;p5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552" name="Google Shape;552;p51"/>
          <p:cNvSpPr txBox="1">
            <a:spLocks noGrp="1"/>
          </p:cNvSpPr>
          <p:nvPr>
            <p:ph type="body" idx="3"/>
          </p:nvPr>
        </p:nvSpPr>
        <p:spPr>
          <a:xfrm>
            <a:off x="3232200" y="1005850"/>
            <a:ext cx="2679600" cy="36573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/>
              <a:t>Polynomial Regression:</a:t>
            </a:r>
            <a:endParaRPr lang="en-IN" b="1" dirty="0"/>
          </a:p>
          <a:p>
            <a:pPr marL="0" indent="0" algn="just">
              <a:spcBef>
                <a:spcPts val="1000"/>
              </a:spcBef>
              <a:buNone/>
            </a:pPr>
            <a:r>
              <a:rPr lang="en" dirty="0"/>
              <a:t>I tried this model to imporve on the liner regression, with raw data It performed worst then the liner model I got r2 score of -11.51. After cleaning the data, r2 score impoved significatly.</a:t>
            </a:r>
          </a:p>
          <a:p>
            <a:pPr marL="0" indent="0" algn="just">
              <a:spcBef>
                <a:spcPts val="1000"/>
              </a:spcBef>
              <a:buNone/>
            </a:pPr>
            <a:r>
              <a:rPr lang="en" b="1" dirty="0"/>
              <a:t>Final Results: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" b="1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563590A-2ADA-C6C6-1481-11FBEF233B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53" y="3432290"/>
            <a:ext cx="2321707" cy="88487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C32D81E-5FF7-2C1C-480B-5FF8FD0E9C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2489" y="3432289"/>
            <a:ext cx="2146648" cy="88487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AA215FD-D19F-EA40-DF82-81B62768FA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2809" y="3432289"/>
            <a:ext cx="2399382" cy="8848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7">
          <a:extLst>
            <a:ext uri="{FF2B5EF4-FFF2-40B4-BE49-F238E27FC236}">
              <a16:creationId xmlns:a16="http://schemas.microsoft.com/office/drawing/2014/main" id="{170CF29B-1E08-0660-E5D2-4C2FB3BA4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43">
            <a:extLst>
              <a:ext uri="{FF2B5EF4-FFF2-40B4-BE49-F238E27FC236}">
                <a16:creationId xmlns:a16="http://schemas.microsoft.com/office/drawing/2014/main" id="{24BD5897-8C07-91A0-6C24-72A6AA650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311700" y="342900"/>
            <a:ext cx="8147100" cy="57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Use Of AI:</a:t>
            </a:r>
            <a:endParaRPr dirty="0"/>
          </a:p>
        </p:txBody>
      </p:sp>
      <p:sp>
        <p:nvSpPr>
          <p:cNvPr id="459" name="Google Shape;459;p43">
            <a:extLst>
              <a:ext uri="{FF2B5EF4-FFF2-40B4-BE49-F238E27FC236}">
                <a16:creationId xmlns:a16="http://schemas.microsoft.com/office/drawing/2014/main" id="{4FCCE382-5793-88C7-1696-94FC9AC80F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11700" y="915600"/>
            <a:ext cx="7145907" cy="374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indent="0" algn="just">
              <a:buNone/>
            </a:pPr>
            <a:r>
              <a:rPr lang="en-US" dirty="0"/>
              <a:t>I used AI for the following reasons:</a:t>
            </a:r>
          </a:p>
          <a:p>
            <a:pPr marL="285750" indent="-285750" algn="just"/>
            <a:r>
              <a:rPr lang="en-US" dirty="0"/>
              <a:t>To merge each and every data in the JSON file and convert it to CSV, I merged around 30000 JSON files.</a:t>
            </a:r>
          </a:p>
          <a:p>
            <a:pPr marL="285750" indent="-285750" algn="just"/>
            <a:r>
              <a:rPr lang="en-US" dirty="0"/>
              <a:t>Specifically, to format the markdowns written in the notebook.</a:t>
            </a:r>
          </a:p>
          <a:p>
            <a:pPr marL="285750" indent="-285750" algn="just"/>
            <a:r>
              <a:rPr lang="en-US" dirty="0"/>
              <a:t>First, I roughly plotted graphs for the data, and then using AI added colors and formatted it in such a way that they looks good.</a:t>
            </a:r>
            <a:endParaRPr dirty="0"/>
          </a:p>
        </p:txBody>
      </p:sp>
      <p:sp>
        <p:nvSpPr>
          <p:cNvPr id="460" name="Google Shape;460;p43">
            <a:extLst>
              <a:ext uri="{FF2B5EF4-FFF2-40B4-BE49-F238E27FC236}">
                <a16:creationId xmlns:a16="http://schemas.microsoft.com/office/drawing/2014/main" id="{CB2238BE-132B-3D84-2404-5AAC2C541AE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9</a:t>
            </a:fld>
            <a:endParaRPr/>
          </a:p>
        </p:txBody>
      </p:sp>
      <p:grpSp>
        <p:nvGrpSpPr>
          <p:cNvPr id="461" name="Google Shape;461;p43">
            <a:extLst>
              <a:ext uri="{FF2B5EF4-FFF2-40B4-BE49-F238E27FC236}">
                <a16:creationId xmlns:a16="http://schemas.microsoft.com/office/drawing/2014/main" id="{9DF49F1C-D623-CE5E-432B-EE2363F35BAC}"/>
              </a:ext>
            </a:extLst>
          </p:cNvPr>
          <p:cNvGrpSpPr/>
          <p:nvPr/>
        </p:nvGrpSpPr>
        <p:grpSpPr>
          <a:xfrm rot="2699785">
            <a:off x="482122" y="4029609"/>
            <a:ext cx="1208946" cy="982653"/>
            <a:chOff x="2318413" y="2452450"/>
            <a:chExt cx="1067700" cy="867900"/>
          </a:xfrm>
        </p:grpSpPr>
        <p:sp>
          <p:nvSpPr>
            <p:cNvPr id="462" name="Google Shape;462;p43">
              <a:extLst>
                <a:ext uri="{FF2B5EF4-FFF2-40B4-BE49-F238E27FC236}">
                  <a16:creationId xmlns:a16="http://schemas.microsoft.com/office/drawing/2014/main" id="{FAEC6347-3C9C-94A8-8F78-B1B826225DA1}"/>
                </a:ext>
              </a:extLst>
            </p:cNvPr>
            <p:cNvSpPr/>
            <p:nvPr/>
          </p:nvSpPr>
          <p:spPr>
            <a:xfrm>
              <a:off x="2318413" y="25286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43">
              <a:extLst>
                <a:ext uri="{FF2B5EF4-FFF2-40B4-BE49-F238E27FC236}">
                  <a16:creationId xmlns:a16="http://schemas.microsoft.com/office/drawing/2014/main" id="{318E6A59-7CFC-FBCF-561C-1F7AFF599B07}"/>
                </a:ext>
              </a:extLst>
            </p:cNvPr>
            <p:cNvSpPr/>
            <p:nvPr/>
          </p:nvSpPr>
          <p:spPr>
            <a:xfrm>
              <a:off x="2470813" y="2452450"/>
              <a:ext cx="915300" cy="791700"/>
            </a:xfrm>
            <a:prstGeom prst="triangle">
              <a:avLst>
                <a:gd name="adj" fmla="val 50000"/>
              </a:avLst>
            </a:prstGeom>
            <a:noFill/>
            <a:ln w="19050" cap="flat" cmpd="sng">
              <a:solidFill>
                <a:schemeClr val="accent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64" name="Google Shape;464;p43">
            <a:extLst>
              <a:ext uri="{FF2B5EF4-FFF2-40B4-BE49-F238E27FC236}">
                <a16:creationId xmlns:a16="http://schemas.microsoft.com/office/drawing/2014/main" id="{BE50F0A0-0003-A7E9-AB0B-3B04003D9CE2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370" y="1972579"/>
            <a:ext cx="1084950" cy="113502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454588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3" name="Google Shape;653;p61"/>
          <p:cNvSpPr txBox="1">
            <a:spLocks noGrp="1"/>
          </p:cNvSpPr>
          <p:nvPr>
            <p:ph type="sldNum" idx="12"/>
          </p:nvPr>
        </p:nvSpPr>
        <p:spPr>
          <a:xfrm>
            <a:off x="8466613" y="4762672"/>
            <a:ext cx="365700" cy="274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 fontScale="92500" lnSpcReduction="20000"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656" name="Google Shape;656;p61"/>
          <p:cNvSpPr txBox="1">
            <a:spLocks noGrp="1"/>
          </p:cNvSpPr>
          <p:nvPr>
            <p:ph type="title"/>
          </p:nvPr>
        </p:nvSpPr>
        <p:spPr>
          <a:xfrm>
            <a:off x="522000" y="2133975"/>
            <a:ext cx="8100000" cy="87555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 fontScale="9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 a lot!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D5D5D"/>
      </a:dk2>
      <a:lt2>
        <a:srgbClr val="DADADA"/>
      </a:lt2>
      <a:accent1>
        <a:srgbClr val="58ADC5"/>
      </a:accent1>
      <a:accent2>
        <a:srgbClr val="8AC6D6"/>
      </a:accent2>
      <a:accent3>
        <a:srgbClr val="CDE6EE"/>
      </a:accent3>
      <a:accent4>
        <a:srgbClr val="EA5B25"/>
      </a:accent4>
      <a:accent5>
        <a:srgbClr val="F08C66"/>
      </a:accent5>
      <a:accent6>
        <a:srgbClr val="F9CEBE"/>
      </a:accent6>
      <a:hlink>
        <a:srgbClr val="58ADC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2735</TotalTime>
  <Words>485</Words>
  <Application>Microsoft Office PowerPoint</Application>
  <PresentationFormat>On-screen Show (16:9)</PresentationFormat>
  <Paragraphs>63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Assistant</vt:lpstr>
      <vt:lpstr>Arial</vt:lpstr>
      <vt:lpstr>Simple Light</vt:lpstr>
      <vt:lpstr>Accelerating Chip Layout Design using ML</vt:lpstr>
      <vt:lpstr>Contents:</vt:lpstr>
      <vt:lpstr>Introduction</vt:lpstr>
      <vt:lpstr>Problem:</vt:lpstr>
      <vt:lpstr>Solution:</vt:lpstr>
      <vt:lpstr>Data Collection and cleaning:</vt:lpstr>
      <vt:lpstr>Data Visualization:</vt:lpstr>
      <vt:lpstr>Model Selection:</vt:lpstr>
      <vt:lpstr>Use Of AI:</vt:lpstr>
      <vt:lpstr>Thanks a lot!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Jayesh Parab</cp:lastModifiedBy>
  <cp:revision>5</cp:revision>
  <dcterms:modified xsi:type="dcterms:W3CDTF">2026-05-29T09:03:18Z</dcterms:modified>
</cp:coreProperties>
</file>